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ln w="12700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846320"/>
            <a:ext cx="3108960" cy="3108960"/>
          </a:xfrm>
          <a:prstGeom prst="ellipse">
            <a:avLst/>
          </a:prstGeom>
          <a:ln w="12700">
            <a:solidFill>
              <a:srgbClr val="C9A227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END-TO-END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 Core Transformations on Databricks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Silver &amp; Gold Layers with dbt Core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1920240" cy="5029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343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VJ TECH TALKS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vjtechtalks.com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Video Fits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17320" y="2148840"/>
            <a:ext cx="457200" cy="457200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2011680" cy="2331720"/>
          </a:xfrm>
          <a:prstGeom prst="rect">
            <a:avLst/>
          </a:prstGeom>
          <a:solidFill>
            <a:srgbClr val="1F1F2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Setup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Git, Python, UV &amp; dbt Core connected to Databricks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70048" y="36118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30168" y="2148840"/>
            <a:ext cx="457200" cy="457200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016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52928" y="2834640"/>
            <a:ext cx="2011680" cy="2331720"/>
          </a:xfrm>
          <a:prstGeom prst="rect">
            <a:avLst/>
          </a:prstGeom>
          <a:solidFill>
            <a:srgbClr val="1F1F27"/>
          </a:solidFill>
          <a:ln/>
        </p:spPr>
      </p:sp>
      <p:sp>
        <p:nvSpPr>
          <p:cNvPr id="13" name="Text 11"/>
          <p:cNvSpPr/>
          <p:nvPr/>
        </p:nvSpPr>
        <p:spPr>
          <a:xfrm>
            <a:off x="2990088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 Layer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90088" y="36576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Cleansing, dedup &amp; standardization models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82896" y="36118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843016" y="2148840"/>
            <a:ext cx="457200" cy="457200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43016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65776" y="2834640"/>
            <a:ext cx="2011680" cy="2331720"/>
          </a:xfrm>
          <a:prstGeom prst="rect">
            <a:avLst/>
          </a:prstGeom>
          <a:solidFill>
            <a:srgbClr val="1F1F27"/>
          </a:solidFill>
          <a:ln/>
        </p:spPr>
      </p:sp>
      <p:sp>
        <p:nvSpPr>
          <p:cNvPr id="19" name="Text 17"/>
          <p:cNvSpPr/>
          <p:nvPr/>
        </p:nvSpPr>
        <p:spPr>
          <a:xfrm>
            <a:off x="5202936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Layer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02936" y="36576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aggregates &amp; fact/dim modeling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95744" y="36118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055864" y="2148840"/>
            <a:ext cx="457200" cy="457200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55864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78624" y="2834640"/>
            <a:ext cx="2011680" cy="2331720"/>
          </a:xfrm>
          <a:prstGeom prst="rect">
            <a:avLst/>
          </a:prstGeom>
          <a:solidFill>
            <a:srgbClr val="17171E"/>
          </a:solidFill>
          <a:ln/>
        </p:spPr>
      </p:sp>
      <p:sp>
        <p:nvSpPr>
          <p:cNvPr id="25" name="Text 23"/>
          <p:cNvSpPr/>
          <p:nvPr/>
        </p:nvSpPr>
        <p:spPr>
          <a:xfrm>
            <a:off x="7415784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9B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Docs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15784" y="36576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tests, source freshness &amp; auto-generated docs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08592" y="36118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268712" y="2148840"/>
            <a:ext cx="457200" cy="457200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6871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491472" y="2834640"/>
            <a:ext cx="2011680" cy="2331720"/>
          </a:xfrm>
          <a:prstGeom prst="rect">
            <a:avLst/>
          </a:prstGeom>
          <a:solidFill>
            <a:srgbClr val="17171E"/>
          </a:solidFill>
          <a:ln/>
        </p:spPr>
      </p:sp>
      <p:sp>
        <p:nvSpPr>
          <p:cNvPr id="31" name="Text 29"/>
          <p:cNvSpPr/>
          <p:nvPr/>
        </p:nvSpPr>
        <p:spPr>
          <a:xfrm>
            <a:off x="9628632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9B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28632" y="36576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with Databricks Workflows / Airflow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video covers Part 1 — later parts release across the series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 TECH TALKS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/ SERIES ROADMAP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VIDEO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8196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16712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raw Bronze data alone isn't analytics-ready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10881360" cy="0"/>
          </a:xfrm>
          <a:prstGeom prst="line">
            <a:avLst/>
          </a:prstGeom>
          <a:noFill/>
          <a:ln w="9525">
            <a:solidFill>
              <a:srgbClr val="2E2E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5511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Medallion Architecture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8986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Bronze, Silver &amp; Gold map onto Databricks + dbt Core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27832"/>
            <a:ext cx="10881360" cy="0"/>
          </a:xfrm>
          <a:prstGeom prst="line">
            <a:avLst/>
          </a:prstGeom>
          <a:noFill/>
          <a:ln w="9525">
            <a:solidFill>
              <a:srgbClr val="2E2E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2826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 Core vs. dbt Cloud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6301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using dbt Core for this project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959352"/>
            <a:ext cx="10881360" cy="0"/>
          </a:xfrm>
          <a:prstGeom prst="line">
            <a:avLst/>
          </a:prstGeom>
          <a:noFill/>
          <a:ln w="9525">
            <a:solidFill>
              <a:srgbClr val="2E2E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0142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Prerequisites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36168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you need before you start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690872"/>
            <a:ext cx="10881360" cy="0"/>
          </a:xfrm>
          <a:prstGeom prst="line">
            <a:avLst/>
          </a:prstGeom>
          <a:noFill/>
          <a:ln w="9525">
            <a:solidFill>
              <a:srgbClr val="2E2E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800600"/>
            <a:ext cx="502920" cy="502920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47457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Core Tools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509320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Git, Python &amp; UV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422392"/>
            <a:ext cx="10881360" cy="0"/>
          </a:xfrm>
          <a:prstGeom prst="line">
            <a:avLst/>
          </a:prstGeom>
          <a:noFill/>
          <a:ln w="9525">
            <a:solidFill>
              <a:srgbClr val="2E2E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532120"/>
            <a:ext cx="502920" cy="502920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532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17320" y="54772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Connect the Project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17320" y="582472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dbt project, install adapters &amp; test the Databricks connection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 TECH TALKS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/ AGENDA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1783080"/>
            <a:ext cx="3291840" cy="3291840"/>
          </a:xfrm>
          <a:prstGeom prst="ellipse">
            <a:avLst/>
          </a:prstGeom>
          <a:ln w="12700">
            <a:solidFill>
              <a:srgbClr val="C9A227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611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raw Bronze data isn't analytics-ready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 TECH TALKS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/ SECTION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Medallion Architecture on Databricks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2743200" cy="2834640"/>
          </a:xfrm>
          <a:prstGeom prst="rect">
            <a:avLst/>
          </a:prstGeom>
          <a:solidFill>
            <a:srgbClr val="1F1F27"/>
          </a:solidFill>
          <a:ln w="19050">
            <a:solidFill>
              <a:srgbClr val="8A6A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2743200" cy="502920"/>
          </a:xfrm>
          <a:prstGeom prst="rect">
            <a:avLst/>
          </a:prstGeom>
          <a:solidFill>
            <a:srgbClr val="8A6A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9718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ingested data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(as-is from source)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75888" y="32918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069080" y="2194560"/>
            <a:ext cx="2743200" cy="2834640"/>
          </a:xfrm>
          <a:prstGeom prst="rect">
            <a:avLst/>
          </a:prstGeom>
          <a:solidFill>
            <a:srgbClr val="1F1F27"/>
          </a:solidFill>
          <a:ln w="19050">
            <a:solidFill>
              <a:srgbClr val="B8B8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2194560"/>
            <a:ext cx="2743200" cy="502920"/>
          </a:xfrm>
          <a:prstGeom prst="rect">
            <a:avLst/>
          </a:prstGeom>
          <a:solidFill>
            <a:srgbClr val="B8B8BE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51960" y="29718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Cleansed, deduped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standardized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51960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i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Core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i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22008" y="32918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315200" y="2194560"/>
            <a:ext cx="2743200" cy="2834640"/>
          </a:xfrm>
          <a:prstGeom prst="rect">
            <a:avLst/>
          </a:prstGeom>
          <a:solidFill>
            <a:srgbClr val="1F1F27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2194560"/>
            <a:ext cx="2743200" cy="5029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0A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0" y="29718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Aggregated,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0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i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Core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i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349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stores every layer as Delta tables — dbt Core owns the Silver &amp; Gold transformation logic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 TECH TALKS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/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1783080"/>
            <a:ext cx="3291840" cy="3291840"/>
          </a:xfrm>
          <a:prstGeom prst="ellipse">
            <a:avLst/>
          </a:prstGeom>
          <a:ln w="12700">
            <a:solidFill>
              <a:srgbClr val="C9A227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611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 Core Setup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structure, profiles &amp; the Databricks connection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 TECH TALKS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/ SECTION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 Core vs. dbt Cloud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4251960"/>
                <a:gridCol w="4251960"/>
              </a:tblGrid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A0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A0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A0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2ED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C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Self-managed (local / CI)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2ED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managed, cloud-hosted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2ED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C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&amp; open-source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2ED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subscription tiers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2ED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C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(Workflows, Airflow, cron)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2ED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scheduler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2ED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C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IDE / terminal (CLI-driven)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2ED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Browser-based 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2ED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/ 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C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pipeline setup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2ED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2ED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C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wanting full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2ED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wanting managed simplicity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 TECH TALKS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/ dbt CORE SETUP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1783080"/>
            <a:ext cx="3291840" cy="3291840"/>
          </a:xfrm>
          <a:prstGeom prst="ellipse">
            <a:avLst/>
          </a:prstGeom>
          <a:ln w="12700">
            <a:solidFill>
              <a:srgbClr val="C9A227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611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Environment Setup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your machine for dbt Core + Databricks development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 TECH TALKS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/ SECTION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Prerequisites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4206240"/>
        </p:xfrm>
        <a:graphic>
          <a:graphicData uri="http://schemas.openxmlformats.org/drawingml/2006/table">
            <a:tbl>
              <a:tblPr/>
              <a:tblGrid>
                <a:gridCol w="4114800"/>
                <a:gridCol w="6766560"/>
              </a:tblGrid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A0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A0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8C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2ED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runtime for dbt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8C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2ED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8C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2ED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8C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2ED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package manager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8C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2ED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Transformation engine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8C7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dbt-databricks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2ED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Databricks adapter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 TECH TALKS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/ ENVIRONMENT SETUP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Core Tools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480560" cy="4617720"/>
          </a:xfrm>
          <a:prstGeom prst="rect">
            <a:avLst/>
          </a:prstGeom>
          <a:solidFill>
            <a:srgbClr val="17171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3736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0078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Code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993392"/>
            <a:ext cx="33832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code.visualstudio.com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277749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774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74091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3033522"/>
            <a:ext cx="33832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git-scm.com/downloads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381762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176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78104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 3.12.x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4073652"/>
            <a:ext cx="33832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version for dbt Core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485775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8577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82117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UV package manager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5113782"/>
            <a:ext cx="33832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uv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49240" y="1508760"/>
            <a:ext cx="6172200" cy="4617720"/>
          </a:xfrm>
          <a:prstGeom prst="rect">
            <a:avLst/>
          </a:prstGeom>
          <a:solidFill>
            <a:srgbClr val="0F0F14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9240" y="1508760"/>
            <a:ext cx="6172200" cy="384048"/>
          </a:xfrm>
          <a:prstGeom prst="rect">
            <a:avLst/>
          </a:prstGeom>
          <a:solidFill>
            <a:srgbClr val="1F1F27"/>
          </a:solidFill>
          <a:ln/>
        </p:spPr>
      </p:sp>
      <p:sp>
        <p:nvSpPr>
          <p:cNvPr id="23" name="Shape 21"/>
          <p:cNvSpPr/>
          <p:nvPr/>
        </p:nvSpPr>
        <p:spPr>
          <a:xfrm>
            <a:off x="5550408" y="162763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4" name="Shape 22"/>
          <p:cNvSpPr/>
          <p:nvPr/>
        </p:nvSpPr>
        <p:spPr>
          <a:xfrm>
            <a:off x="5806440" y="162763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5" name="Shape 23"/>
          <p:cNvSpPr/>
          <p:nvPr/>
        </p:nvSpPr>
        <p:spPr>
          <a:xfrm>
            <a:off x="6062472" y="162763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6" name="Text 24"/>
          <p:cNvSpPr/>
          <p:nvPr/>
        </p:nvSpPr>
        <p:spPr>
          <a:xfrm>
            <a:off x="5349240" y="1508760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9B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installs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2039112"/>
            <a:ext cx="56235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Verify each install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--version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--version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 TECH TALKS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/ ENVIRONMENT SETUP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5–7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Setup &amp; Verify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480560" cy="4617720"/>
          </a:xfrm>
          <a:prstGeom prst="rect">
            <a:avLst/>
          </a:prstGeom>
          <a:solidFill>
            <a:srgbClr val="17171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3736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0078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VS Code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12420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24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30876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Python extension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3380232"/>
            <a:ext cx="338328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→ search “Python” → install the Microsoft extension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451104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11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447446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environment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767072"/>
            <a:ext cx="338328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checks in the VS Code terminal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49240" y="1508760"/>
            <a:ext cx="6172200" cy="4617720"/>
          </a:xfrm>
          <a:prstGeom prst="rect">
            <a:avLst/>
          </a:prstGeom>
          <a:solidFill>
            <a:srgbClr val="0F0F14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49240" y="1508760"/>
            <a:ext cx="6172200" cy="384048"/>
          </a:xfrm>
          <a:prstGeom prst="rect">
            <a:avLst/>
          </a:prstGeom>
          <a:solidFill>
            <a:srgbClr val="1F1F27"/>
          </a:solidFill>
          <a:ln/>
        </p:spPr>
      </p:sp>
      <p:sp>
        <p:nvSpPr>
          <p:cNvPr id="18" name="Shape 16"/>
          <p:cNvSpPr/>
          <p:nvPr/>
        </p:nvSpPr>
        <p:spPr>
          <a:xfrm>
            <a:off x="5550408" y="162763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5806440" y="162763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6062472" y="162763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1508760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9B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2039112"/>
            <a:ext cx="56235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--version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--version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UV is missing: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uv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 TECH TALKS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/ ENVIRONMENT SETUP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8–10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dbt Project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480560" cy="4617720"/>
          </a:xfrm>
          <a:prstGeom prst="rect">
            <a:avLst/>
          </a:prstGeom>
          <a:solidFill>
            <a:srgbClr val="17171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3736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0078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project folder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993392"/>
            <a:ext cx="338328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 + cd into DBT-CORE-DATABRICKS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312420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24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0876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a UV project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3380232"/>
            <a:ext cx="338328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init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451104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511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47446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virtual environment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4767072"/>
            <a:ext cx="338328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sync creates the .venv automatically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49240" y="1508760"/>
            <a:ext cx="6172200" cy="4617720"/>
          </a:xfrm>
          <a:prstGeom prst="rect">
            <a:avLst/>
          </a:prstGeom>
          <a:solidFill>
            <a:srgbClr val="0F0F14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1508760"/>
            <a:ext cx="6172200" cy="384048"/>
          </a:xfrm>
          <a:prstGeom prst="rect">
            <a:avLst/>
          </a:prstGeom>
          <a:solidFill>
            <a:srgbClr val="1F1F27"/>
          </a:solidFill>
          <a:ln/>
        </p:spPr>
      </p:sp>
      <p:sp>
        <p:nvSpPr>
          <p:cNvPr id="19" name="Shape 17"/>
          <p:cNvSpPr/>
          <p:nvPr/>
        </p:nvSpPr>
        <p:spPr>
          <a:xfrm>
            <a:off x="5550408" y="162763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5806440" y="162763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062472" y="162763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1508760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9B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2039112"/>
            <a:ext cx="56235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DBT-CORE-DATABRICKS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DBT-CORE-DATABRICKS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init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sync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 TECH TALKS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/ ENVIRONMENT SETUP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12–14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dbt Core &amp; Databricks Adapter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480560" cy="4617720"/>
          </a:xfrm>
          <a:prstGeom prst="rect">
            <a:avLst/>
          </a:prstGeom>
          <a:solidFill>
            <a:srgbClr val="17171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3736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0078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dbt 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993392"/>
            <a:ext cx="338328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add dbt-core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312420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24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0876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Databricks adapter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3380232"/>
            <a:ext cx="338328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add dbt-databricks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451104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511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47446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dependencies (optional)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4767072"/>
            <a:ext cx="338328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exact versions to requirements.txt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49240" y="1508760"/>
            <a:ext cx="6172200" cy="4617720"/>
          </a:xfrm>
          <a:prstGeom prst="rect">
            <a:avLst/>
          </a:prstGeom>
          <a:solidFill>
            <a:srgbClr val="0F0F14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1508760"/>
            <a:ext cx="6172200" cy="384048"/>
          </a:xfrm>
          <a:prstGeom prst="rect">
            <a:avLst/>
          </a:prstGeom>
          <a:solidFill>
            <a:srgbClr val="1F1F27"/>
          </a:solidFill>
          <a:ln/>
        </p:spPr>
      </p:sp>
      <p:sp>
        <p:nvSpPr>
          <p:cNvPr id="19" name="Shape 17"/>
          <p:cNvSpPr/>
          <p:nvPr/>
        </p:nvSpPr>
        <p:spPr>
          <a:xfrm>
            <a:off x="5550408" y="162763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5806440" y="162763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062472" y="162763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1508760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9B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2039112"/>
            <a:ext cx="56235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 dbt-core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 dbt-databricks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pip freeze &gt; requirements.txt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 TECH TALKS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/ ENVIRONMENT SETUP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15–18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Activate, Verify &amp; Connect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480560" cy="4617720"/>
          </a:xfrm>
          <a:prstGeom prst="rect">
            <a:avLst/>
          </a:prstGeom>
          <a:solidFill>
            <a:srgbClr val="17171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3736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0078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the virtual environment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993392"/>
            <a:ext cx="33832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.venv\Scripts\activate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277749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774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74091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dbt installation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3033522"/>
            <a:ext cx="33832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dbt-core &amp; dbt-databricks versions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381762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176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78104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the dbt project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4073652"/>
            <a:ext cx="33832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project name, connection, catalog, schema &amp; token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485775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8577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82117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Databricks connection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5113782"/>
            <a:ext cx="33832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Expect: All checks passed!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49240" y="1508760"/>
            <a:ext cx="6172200" cy="4617720"/>
          </a:xfrm>
          <a:prstGeom prst="rect">
            <a:avLst/>
          </a:prstGeom>
          <a:solidFill>
            <a:srgbClr val="0F0F14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9240" y="1508760"/>
            <a:ext cx="6172200" cy="384048"/>
          </a:xfrm>
          <a:prstGeom prst="rect">
            <a:avLst/>
          </a:prstGeom>
          <a:solidFill>
            <a:srgbClr val="1F1F27"/>
          </a:solidFill>
          <a:ln/>
        </p:spPr>
      </p:sp>
      <p:sp>
        <p:nvSpPr>
          <p:cNvPr id="23" name="Shape 21"/>
          <p:cNvSpPr/>
          <p:nvPr/>
        </p:nvSpPr>
        <p:spPr>
          <a:xfrm>
            <a:off x="5550408" y="162763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4" name="Shape 22"/>
          <p:cNvSpPr/>
          <p:nvPr/>
        </p:nvSpPr>
        <p:spPr>
          <a:xfrm>
            <a:off x="5806440" y="162763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5" name="Shape 23"/>
          <p:cNvSpPr/>
          <p:nvPr/>
        </p:nvSpPr>
        <p:spPr>
          <a:xfrm>
            <a:off x="6062472" y="162763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6" name="Text 24"/>
          <p:cNvSpPr/>
          <p:nvPr/>
        </p:nvSpPr>
        <p:spPr>
          <a:xfrm>
            <a:off x="5349240" y="1508760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9B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2039112"/>
            <a:ext cx="56235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.\.venv\Scripts\activate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dbt --version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dbt init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dbt debug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checks passed!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 TECH TALKS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/ ENVIRONMENT SETUP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ln w="12700">
            <a:solidFill>
              <a:srgbClr val="C9A227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 &amp; why we chose dbt Core over dbt Cloud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VS Code, Git, Python &amp; UV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&amp; initialized the dbt project with UV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dbt Core + the Databricks adapter and verified the connection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0515600" cy="1234440"/>
          </a:xfrm>
          <a:prstGeom prst="rect">
            <a:avLst/>
          </a:prstGeom>
          <a:solidFill>
            <a:srgbClr val="1F1F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IN PART 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46634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Silver Layer — cleansing, deduplication &amp; standardization models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to VJ Tech Talks for the rest of the series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vjtechtalks.com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2026-07-12T04:20:39Z</dcterms:created>
  <dcterms:modified xsi:type="dcterms:W3CDTF">2026-07-12T04:20:39Z</dcterms:modified>
</cp:coreProperties>
</file>